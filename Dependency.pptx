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1" d="100"/>
          <a:sy n="91" d="100"/>
        </p:scale>
        <p:origin x="102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BD3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7F9FD"/>
                </a:solidFill>
              </a:defRPr>
            </a:pPr>
            <a:r>
              <a:t>Dependencies</a:t>
            </a:r>
          </a:p>
          <a:p>
            <a:pPr>
              <a:defRPr sz="2100">
                <a:solidFill>
                  <a:srgbClr val="34CDBE"/>
                </a:solidFill>
              </a:defRPr>
            </a:pPr>
            <a:r>
              <a:t>Essential building blocks for modern Python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EBBD3"/>
                </a:solidFill>
              </a:defRPr>
            </a:pPr>
            <a:r>
              <a:t>Boto3  •  Celery  •  OpenCV  •  Pandas  •  Django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BD3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7F9FD"/>
                </a:solidFill>
              </a:defRPr>
            </a:pPr>
            <a:r>
              <a:t>Boto3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EBBD3"/>
                </a:solidFill>
              </a:defRPr>
            </a:pPr>
            <a:r>
              <a:t>AWS SDK for Python — connects applications with AWS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5212080" cy="50292"/>
          </a:xfrm>
          <a:prstGeom prst="rect">
            <a:avLst/>
          </a:prstGeom>
          <a:solidFill>
            <a:srgbClr val="49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856232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What it does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Provides Python APIs for interacting with AWS resources.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27248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127248"/>
            <a:ext cx="5212080" cy="50292"/>
          </a:xfrm>
          <a:prstGeom prst="rect">
            <a:avLst/>
          </a:prstGeom>
          <a:solidFill>
            <a:srgbClr val="34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291840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Common uses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S3 • EC2 • DynamoDB • SQS • Lambda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62856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562856"/>
            <a:ext cx="5212080" cy="50292"/>
          </a:xfrm>
          <a:prstGeom prst="rect">
            <a:avLst/>
          </a:prstGeom>
          <a:solidFill>
            <a:srgbClr val="976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727448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Real-world example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Upload application files to Amazon S3 directly from Python.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029200" cy="105156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5029200" cy="50292"/>
          </a:xfrm>
          <a:prstGeom prst="rect">
            <a:avLst/>
          </a:prstGeom>
          <a:solidFill>
            <a:srgbClr val="F4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1856232"/>
            <a:ext cx="4645152" cy="795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PYTHON APP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Application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063240"/>
            <a:ext cx="5029200" cy="105156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063240"/>
            <a:ext cx="5029200" cy="50292"/>
          </a:xfrm>
          <a:prstGeom prst="rect">
            <a:avLst/>
          </a:prstGeom>
          <a:solidFill>
            <a:srgbClr val="49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3227832"/>
            <a:ext cx="4645152" cy="795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BOTO3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AWS SDK for Python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34840"/>
            <a:ext cx="5029200" cy="105156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4434840"/>
            <a:ext cx="5029200" cy="50292"/>
          </a:xfrm>
          <a:prstGeom prst="rect">
            <a:avLst/>
          </a:prstGeom>
          <a:solidFill>
            <a:srgbClr val="34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4599431"/>
            <a:ext cx="4645152" cy="795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AWS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S3 / EC2 / DynamoDB / SQS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BD3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7F9FD"/>
                </a:solidFill>
              </a:defRPr>
            </a:pPr>
            <a:r>
              <a:t>Celery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EBBD3"/>
                </a:solidFill>
              </a:defRPr>
            </a:pPr>
            <a:r>
              <a:t>Background task processing — keeps the main application responsive.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5212080" cy="50292"/>
          </a:xfrm>
          <a:prstGeom prst="rect">
            <a:avLst/>
          </a:prstGeom>
          <a:solidFill>
            <a:srgbClr val="34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856232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What it does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Executes time-consuming tasks outside the main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27248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127248"/>
            <a:ext cx="5212080" cy="50292"/>
          </a:xfrm>
          <a:prstGeom prst="rect">
            <a:avLst/>
          </a:prstGeom>
          <a:solidFill>
            <a:srgbClr val="F4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291840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Common uses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Emails • Reports • Scheduled jobs • Image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62856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562856"/>
            <a:ext cx="5212080" cy="50292"/>
          </a:xfrm>
          <a:prstGeom prst="rect">
            <a:avLst/>
          </a:prstGeom>
          <a:solidFill>
            <a:srgbClr val="976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727448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Key advantage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Users do not need to wait for long-running tasks to finish.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828800"/>
            <a:ext cx="1508760" cy="182880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1828800"/>
            <a:ext cx="1508760" cy="50292"/>
          </a:xfrm>
          <a:prstGeom prst="rect">
            <a:avLst/>
          </a:prstGeom>
          <a:solidFill>
            <a:srgbClr val="49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1993392"/>
            <a:ext cx="1124712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APP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Create task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828800"/>
            <a:ext cx="1508760" cy="182880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440" y="1828800"/>
            <a:ext cx="1508760" cy="50292"/>
          </a:xfrm>
          <a:prstGeom prst="rect">
            <a:avLst/>
          </a:prstGeom>
          <a:solidFill>
            <a:srgbClr val="F4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8" y="1993392"/>
            <a:ext cx="1124712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BROKER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Queue task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828800"/>
            <a:ext cx="1508760" cy="182880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784080" y="1828800"/>
            <a:ext cx="1508760" cy="50292"/>
          </a:xfrm>
          <a:prstGeom prst="rect">
            <a:avLst/>
          </a:prstGeom>
          <a:solidFill>
            <a:srgbClr val="34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85248" y="1993392"/>
            <a:ext cx="1124712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WORKER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Run task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936992" y="2542032"/>
            <a:ext cx="164592" cy="347472"/>
          </a:xfrm>
          <a:prstGeom prst="rightArrow">
            <a:avLst/>
          </a:prstGeom>
          <a:solidFill>
            <a:srgbClr val="AEB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9628632" y="2542032"/>
            <a:ext cx="164592" cy="347472"/>
          </a:xfrm>
          <a:prstGeom prst="rightArrow">
            <a:avLst/>
          </a:prstGeom>
          <a:solidFill>
            <a:srgbClr val="AEB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0" y="4160520"/>
            <a:ext cx="4892040" cy="109728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4160520"/>
            <a:ext cx="4892040" cy="50292"/>
          </a:xfrm>
          <a:prstGeom prst="rect">
            <a:avLst/>
          </a:prstGeom>
          <a:solidFill>
            <a:srgbClr val="976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4325112"/>
            <a:ext cx="4507992" cy="8412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Result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Background processing → better response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BD3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7F9FD"/>
                </a:solidFill>
              </a:defRPr>
            </a:pPr>
            <a:r>
              <a:t>OpenCV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EBBD3"/>
                </a:solidFill>
              </a:defRPr>
            </a:pPr>
            <a:r>
              <a:t>Computer vision library for processing images and video.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5212080" cy="50292"/>
          </a:xfrm>
          <a:prstGeom prst="rect">
            <a:avLst/>
          </a:prstGeom>
          <a:solidFill>
            <a:srgbClr val="976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856232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What it does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Reads, transforms and analyzes visual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27248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127248"/>
            <a:ext cx="5212080" cy="50292"/>
          </a:xfrm>
          <a:prstGeom prst="rect">
            <a:avLst/>
          </a:prstGeom>
          <a:solidFill>
            <a:srgbClr val="E8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291840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Common uses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Face detection • Object detection • Image filters • Video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62856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562856"/>
            <a:ext cx="5212080" cy="50292"/>
          </a:xfrm>
          <a:prstGeom prst="rect">
            <a:avLst/>
          </a:prstGeom>
          <a:solidFill>
            <a:srgbClr val="49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727448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Real-world example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Camera frame → preprocessing → object detection.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029200" cy="105156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5029200" cy="50292"/>
          </a:xfrm>
          <a:prstGeom prst="rect">
            <a:avLst/>
          </a:prstGeom>
          <a:solidFill>
            <a:srgbClr val="34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1856232"/>
            <a:ext cx="4645152" cy="795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INPUT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Image / Video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063240"/>
            <a:ext cx="5029200" cy="105156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063240"/>
            <a:ext cx="5029200" cy="50292"/>
          </a:xfrm>
          <a:prstGeom prst="rect">
            <a:avLst/>
          </a:prstGeom>
          <a:solidFill>
            <a:srgbClr val="976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3227832"/>
            <a:ext cx="4645152" cy="795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PROCESS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Resize • Filter • Detect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34840"/>
            <a:ext cx="5029200" cy="105156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4434840"/>
            <a:ext cx="5029200" cy="50292"/>
          </a:xfrm>
          <a:prstGeom prst="rect">
            <a:avLst/>
          </a:prstGeom>
          <a:solidFill>
            <a:srgbClr val="F4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4599431"/>
            <a:ext cx="4645152" cy="795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OUTPUT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Processed image / Detection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BD3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7F9FD"/>
                </a:solidFill>
              </a:defRPr>
            </a:pPr>
            <a:r>
              <a:t>Pandas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EBBD3"/>
                </a:solidFill>
              </a:defRPr>
            </a:pPr>
            <a:r>
              <a:t>Python library for data manipulation, cleaning and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5212080" cy="50292"/>
          </a:xfrm>
          <a:prstGeom prst="rect">
            <a:avLst/>
          </a:prstGeom>
          <a:solidFill>
            <a:srgbClr val="34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856232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What it does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Provides DataFrame and Series structures for structured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27248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127248"/>
            <a:ext cx="5212080" cy="50292"/>
          </a:xfrm>
          <a:prstGeom prst="rect">
            <a:avLst/>
          </a:prstGeom>
          <a:solidFill>
            <a:srgbClr val="49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291840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Common uses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CSV / Excel • Cleaning • Filtering • Grouping •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62856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562856"/>
            <a:ext cx="5212080" cy="50292"/>
          </a:xfrm>
          <a:prstGeom prst="rect">
            <a:avLst/>
          </a:prstGeom>
          <a:solidFill>
            <a:srgbClr val="F4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727448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Real-world example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Load sales data → clean → calculate totals → generate insights.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029200" cy="105156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5029200" cy="50292"/>
          </a:xfrm>
          <a:prstGeom prst="rect">
            <a:avLst/>
          </a:prstGeom>
          <a:solidFill>
            <a:srgbClr val="49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1856232"/>
            <a:ext cx="4645152" cy="795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01  READ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CSV / Excel / Database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063240"/>
            <a:ext cx="5029200" cy="105156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063240"/>
            <a:ext cx="5029200" cy="50292"/>
          </a:xfrm>
          <a:prstGeom prst="rect">
            <a:avLst/>
          </a:prstGeom>
          <a:solidFill>
            <a:srgbClr val="976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3227832"/>
            <a:ext cx="4645152" cy="795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02  TRANSFORM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Clean • Filter • Group • Aggregate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34840"/>
            <a:ext cx="5029200" cy="105156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4434840"/>
            <a:ext cx="5029200" cy="50292"/>
          </a:xfrm>
          <a:prstGeom prst="rect">
            <a:avLst/>
          </a:prstGeom>
          <a:solidFill>
            <a:srgbClr val="34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4599431"/>
            <a:ext cx="4645152" cy="795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03  ANALYZE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Reports • Insights • ML-ready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BBD3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7F9FD"/>
                </a:solidFill>
              </a:defRPr>
            </a:pPr>
            <a:r>
              <a:t>Django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EBBD3"/>
                </a:solidFill>
              </a:defRPr>
            </a:pPr>
            <a:r>
              <a:t>Full-featured Python web framework for secure, database-driven applications.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5212080" cy="50292"/>
          </a:xfrm>
          <a:prstGeom prst="rect">
            <a:avLst/>
          </a:prstGeom>
          <a:solidFill>
            <a:srgbClr val="49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856232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What it does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Provides a structured foundation for building web applications and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27248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127248"/>
            <a:ext cx="5212080" cy="50292"/>
          </a:xfrm>
          <a:prstGeom prst="rect">
            <a:avLst/>
          </a:prstGeom>
          <a:solidFill>
            <a:srgbClr val="976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291840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Built-in capabilities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URL routing • ORM • Authentication • Forms • Admin • Middleware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62856"/>
            <a:ext cx="5212080" cy="123444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562856"/>
            <a:ext cx="5212080" cy="50292"/>
          </a:xfrm>
          <a:prstGeom prst="rect">
            <a:avLst/>
          </a:prstGeom>
          <a:solidFill>
            <a:srgbClr val="34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727448"/>
            <a:ext cx="4828032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Real-world example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Build a business portal with users, database records and authentication.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029200" cy="105156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5029200" cy="50292"/>
          </a:xfrm>
          <a:prstGeom prst="rect">
            <a:avLst/>
          </a:prstGeom>
          <a:solidFill>
            <a:srgbClr val="F4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1856232"/>
            <a:ext cx="4645152" cy="795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REQUEST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Browser / API 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063240"/>
            <a:ext cx="5029200" cy="105156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063240"/>
            <a:ext cx="5029200" cy="50292"/>
          </a:xfrm>
          <a:prstGeom prst="rect">
            <a:avLst/>
          </a:prstGeom>
          <a:solidFill>
            <a:srgbClr val="49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3227832"/>
            <a:ext cx="4645152" cy="795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DJANGO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URL → View →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34840"/>
            <a:ext cx="5029200" cy="1051560"/>
          </a:xfrm>
          <a:prstGeom prst="roundRect">
            <a:avLst/>
          </a:prstGeom>
          <a:solidFill>
            <a:srgbClr val="111A2E"/>
          </a:solidFill>
          <a:ln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4434840"/>
            <a:ext cx="5029200" cy="50292"/>
          </a:xfrm>
          <a:prstGeom prst="rect">
            <a:avLst/>
          </a:prstGeom>
          <a:solidFill>
            <a:srgbClr val="34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4599431"/>
            <a:ext cx="4645152" cy="795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7F9FD"/>
                </a:solidFill>
              </a:defRPr>
            </a:pPr>
            <a:r>
              <a:t>RESPONSE</a:t>
            </a:r>
          </a:p>
          <a:p>
            <a:pPr>
              <a:spcBef>
                <a:spcPts val="700"/>
              </a:spcBef>
              <a:defRPr sz="1320">
                <a:solidFill>
                  <a:srgbClr val="AEBBD3"/>
                </a:solidFill>
              </a:defRPr>
            </a:pPr>
            <a:r>
              <a:t>HTML page / JSON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354</Words>
  <Application>Microsoft Office PowerPoint</Application>
  <PresentationFormat>Widescreen</PresentationFormat>
  <Paragraphs>81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pranauv raaj</cp:lastModifiedBy>
  <cp:revision>4</cp:revision>
  <dcterms:created xsi:type="dcterms:W3CDTF">2013-01-27T09:14:16Z</dcterms:created>
  <dcterms:modified xsi:type="dcterms:W3CDTF">2026-09-29T07:26:59Z</dcterms:modified>
  <cp:category/>
</cp:coreProperties>
</file>